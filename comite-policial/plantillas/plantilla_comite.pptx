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 bookmarkIdSeed="2">
  <p:sldMasterIdLst>
    <p:sldMasterId id="2147483648" r:id="rId1"/>
    <p:sldMasterId id="2147483655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445" r:id="rId8"/>
    <p:sldId id="261" r:id="rId9"/>
    <p:sldId id="429" r:id="rId10"/>
    <p:sldId id="554" r:id="rId15"/>
    <p:sldId id="533" r:id="rId18"/>
  </p:sldIdLst>
  <p:sldSz cx="12192000" cy="6858000"/>
  <p:notesSz cx="7010400" cy="1112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1F877CB-CC43-4811-A2A3-8858943E7A58}">
          <p14:sldIdLst>
            <p14:sldId id="256"/>
            <p14:sldId id="257"/>
            <p14:sldId id="258"/>
            <p14:sldId id="259"/>
            <p14:sldId id="260"/>
            <p14:sldId id="445"/>
            <p14:sldId id="261"/>
            <p14:sldId id="429"/>
            <p14:sldId id="543"/>
            <p14:sldId id="552"/>
            <p14:sldId id="556"/>
            <p14:sldId id="555"/>
            <p14:sldId id="554"/>
            <p14:sldId id="560"/>
            <p14:sldId id="563"/>
            <p14:sldId id="5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3" userDrawn="1">
          <p15:clr>
            <a:srgbClr val="000000"/>
          </p15:clr>
        </p15:guide>
        <p15:guide id="2" pos="3938" userDrawn="1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60000"/>
    <a:srgbClr val="122D4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21" autoAdjust="0"/>
    <p:restoredTop sz="85976" autoAdjust="0"/>
  </p:normalViewPr>
  <p:slideViewPr>
    <p:cSldViewPr snapToGrid="0" showGuides="1">
      <p:cViewPr varScale="1">
        <p:scale>
          <a:sx n="100" d="100"/>
          <a:sy n="100" d="100"/>
        </p:scale>
        <p:origin x="1122" y="90"/>
      </p:cViewPr>
      <p:guideLst>
        <p:guide orient="horz" pos="2133"/>
        <p:guide pos="3938"/>
      </p:guideLst>
    </p:cSldViewPr>
  </p:slideViewPr>
  <p:outlineViewPr>
    <p:cViewPr>
      <p:scale>
        <a:sx n="33" d="100"/>
        <a:sy n="33" d="100"/>
      </p:scale>
      <p:origin x="24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4158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5" Type="http://schemas.openxmlformats.org/officeDocument/2006/relationships/slide" Target="slides/slide13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3037579" cy="55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1255" y="1"/>
            <a:ext cx="3037578" cy="55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10567819"/>
            <a:ext cx="3037579" cy="55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1255" y="10567819"/>
            <a:ext cx="3037578" cy="55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1639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7756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200" cy="43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0820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8" name="Google Shape;1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800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:notes"/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9438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:notes"/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3" name="Google Shape;16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3535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:notes"/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3" name="Google Shape;16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7922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:notes"/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5" name="Google Shape;17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6436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:notes"/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5" name="Google Shape;17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5179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="" xmlns:a16="http://schemas.microsoft.com/office/drawing/2014/main" id="{EB9D0BBD-DE91-6877-8F86-9D2FA0A6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>
            <a:extLst>
              <a:ext uri="{FF2B5EF4-FFF2-40B4-BE49-F238E27FC236}">
                <a16:creationId xmlns="" xmlns:a16="http://schemas.microsoft.com/office/drawing/2014/main" id="{BAFE4507-FB4D-C468-D70E-7A8A3407C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7" name="Google Shape;187;p2:notes">
            <a:extLst>
              <a:ext uri="{FF2B5EF4-FFF2-40B4-BE49-F238E27FC236}">
                <a16:creationId xmlns="" xmlns:a16="http://schemas.microsoft.com/office/drawing/2014/main" id="{A775FBE3-09B7-3CF1-78B5-F72D2BA390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647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="" xmlns:a16="http://schemas.microsoft.com/office/drawing/2014/main" id="{E3348E0F-E21B-C997-2577-F58C405B5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>
            <a:extLst>
              <a:ext uri="{FF2B5EF4-FFF2-40B4-BE49-F238E27FC236}">
                <a16:creationId xmlns="" xmlns:a16="http://schemas.microsoft.com/office/drawing/2014/main" id="{46AAAE20-3866-A3F0-D19B-20DC718A14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23" y="5354662"/>
            <a:ext cx="5608320" cy="43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00" tIns="47775" rIns="95600" bIns="47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7" name="Google Shape;187;p2:notes">
            <a:extLst>
              <a:ext uri="{FF2B5EF4-FFF2-40B4-BE49-F238E27FC236}">
                <a16:creationId xmlns="" xmlns:a16="http://schemas.microsoft.com/office/drawing/2014/main" id="{327BDA80-05DE-434F-3C70-8EAD27C6E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1390650"/>
            <a:ext cx="6672262" cy="3754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70243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 lang="es-CL"/>
          </a:p>
        </p:txBody>
      </p:sp>
      <p:sp>
        <p:nvSpPr>
          <p:cNvPr id="20" name="Google Shape;20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>
            <a:spLocks noGrp="1"/>
          </p:cNvSpPr>
          <p:nvPr>
            <p:ph type="pic" idx="2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1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>
            <a:spLocks noGrp="1"/>
          </p:cNvSpPr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1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FD9D74-47D9-4702-A33C-335B63B48DB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 lang="es-CL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0FBDFE-C587-4B4C-A407-44438C67B59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9/7/2026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‹Nº›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 descr="pdi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7580" y="-113341"/>
            <a:ext cx="3837537" cy="261395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 txBox="1"/>
          <p:nvPr/>
        </p:nvSpPr>
        <p:spPr>
          <a:xfrm>
            <a:off x="4127433" y="544147"/>
            <a:ext cx="7578903" cy="156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 b="1" i="0" u="none" strike="noStrike" cap="none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INFORME COMITÉ POLICIAL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dirty="0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REGIÓN POLICIAL VALPARAÍSO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dirty="0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Semana </a:t>
            </a:r>
            <a:r>
              <a:rPr lang="es-MX" sz="2400" b="1" dirty="0">
                <a:solidFill>
                  <a:schemeClr val="dk2"/>
                </a:solidFill>
              </a:rPr>
              <a:t>del 31.AGO AL 06.</a:t>
            </a:r>
            <a:r>
              <a:rPr lang="es-CL" sz="2400" b="1" dirty="0">
                <a:solidFill>
                  <a:schemeClr val="dk2"/>
                </a:solidFill>
              </a:rPr>
              <a:t>SEP</a:t>
            </a:r>
            <a:r>
              <a:rPr lang="es-MX" sz="2400" b="1" dirty="0">
                <a:solidFill>
                  <a:schemeClr val="dk2"/>
                </a:solidFill>
              </a:rPr>
              <a:t>.026</a:t>
            </a:r>
            <a:endParaRPr dirty="0"/>
          </a:p>
        </p:txBody>
      </p:sp>
      <p:sp>
        <p:nvSpPr>
          <p:cNvPr id="2" name="AutoShape 2" descr="PDI más cercano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s-CL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10" y="2291508"/>
            <a:ext cx="5337790" cy="4022345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122" name="Picture 2" descr="Inauguración nuevo Cuartel PDI Los Andes">
            <a:extLst>
              <a:ext uri="{FF2B5EF4-FFF2-40B4-BE49-F238E27FC236}">
                <a16:creationId xmlns="" xmlns:a16="http://schemas.microsoft.com/office/drawing/2014/main" id="{7A3AB01C-92CC-8B43-668F-84B898D518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8" r="7432"/>
          <a:stretch>
            <a:fillRect/>
          </a:stretch>
        </p:blipFill>
        <p:spPr bwMode="auto">
          <a:xfrm>
            <a:off x="6096000" y="2291508"/>
            <a:ext cx="5803241" cy="4022345"/>
          </a:xfrm>
          <a:prstGeom prst="rect">
            <a:avLst/>
          </a:prstGeo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dir="in"/>
      </p:transition>
    </mc:Choice>
    <mc:Fallback xmlns="">
      <p:transition spd="slow">
        <p:split dir="in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 rot="5400000">
            <a:off x="-1047647" y="1047133"/>
            <a:ext cx="2216700" cy="121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6"/>
          <p:cNvSpPr/>
          <p:nvPr/>
        </p:nvSpPr>
        <p:spPr>
          <a:xfrm rot="5400000">
            <a:off x="-1047648" y="3263918"/>
            <a:ext cx="2216700" cy="121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83492" y="707943"/>
            <a:ext cx="666270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s-CL" sz="1800" b="1" i="0" u="none" strike="noStrike" cap="none" dirty="0">
                <a:solidFill>
                  <a:srgbClr val="002060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ARMAS (Incautadas, levantada</a:t>
            </a:r>
            <a:r>
              <a:rPr lang="es-CL" sz="1800" b="1" dirty="0">
                <a:solidFill>
                  <a:srgbClr val="002060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s</a:t>
            </a:r>
            <a:r>
              <a:rPr lang="es-CL" sz="1800" b="1" i="0" u="none" strike="noStrike" cap="none" dirty="0">
                <a:solidFill>
                  <a:srgbClr val="002060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 y recuperadas)</a:t>
            </a:r>
            <a:endParaRPr lang="es-CL" sz="1800" i="0" u="none" strike="noStrike" cap="none" dirty="0"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s-MX" sz="1800" b="1" dirty="0">
                <a:solidFill>
                  <a:schemeClr val="dk2"/>
                </a:solidFill>
              </a:rPr>
              <a:t>Semana del  31.AGO AL 06</a:t>
            </a:r>
            <a:r>
              <a:rPr lang="es-MX" altLang="es-MX" sz="1800" b="1" dirty="0">
                <a:solidFill>
                  <a:schemeClr val="dk2"/>
                </a:solidFill>
              </a:rPr>
              <a:t>.SEP</a:t>
            </a:r>
            <a:r>
              <a:rPr lang="es-MX" sz="1800" b="1" dirty="0">
                <a:solidFill>
                  <a:schemeClr val="dk2"/>
                </a:solidFill>
              </a:rPr>
              <a:t>.026</a:t>
            </a:r>
            <a:endParaRPr lang="es-MX" sz="1800" dirty="0"/>
          </a:p>
        </p:txBody>
      </p:sp>
      <p:sp>
        <p:nvSpPr>
          <p:cNvPr id="2" name="AutoShape 2" descr="blob:https://web.whatsapp.com/1fc9a243-7df4-4219-b67b-42b48f55842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s-CL"/>
          </a:p>
        </p:txBody>
      </p:sp>
      <p:graphicFrame>
        <p:nvGraphicFramePr>
          <p:cNvPr id="7" name="Tabla 6">
            <a:extLst>
              <a:ext uri="{FF2B5EF4-FFF2-40B4-BE49-F238E27FC236}">
                <a16:creationId xmlns="" xmlns:a16="http://schemas.microsoft.com/office/drawing/2014/main" id="{46EF6498-0071-2F01-08E3-1F3EBE02E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245859"/>
              </p:ext>
            </p:extLst>
          </p:nvPr>
        </p:nvGraphicFramePr>
        <p:xfrm>
          <a:off x="683492" y="1642828"/>
          <a:ext cx="5594645" cy="2882370"/>
        </p:xfrm>
        <a:graphic>
          <a:graphicData uri="http://schemas.openxmlformats.org/drawingml/2006/table">
            <a:tbl>
              <a:tblPr firstRow="1" firstCol="1" bandRow="1"/>
              <a:tblGrid>
                <a:gridCol w="2728253">
                  <a:extLst>
                    <a:ext uri="{9D8B030D-6E8A-4147-A177-3AD203B41FA5}">
                      <a16:colId xmlns="" xmlns:a16="http://schemas.microsoft.com/office/drawing/2014/main" val="362346854"/>
                    </a:ext>
                  </a:extLst>
                </a:gridCol>
                <a:gridCol w="1795812">
                  <a:extLst>
                    <a:ext uri="{9D8B030D-6E8A-4147-A177-3AD203B41FA5}">
                      <a16:colId xmlns="" xmlns:a16="http://schemas.microsoft.com/office/drawing/2014/main" val="2278424996"/>
                    </a:ext>
                  </a:extLst>
                </a:gridCol>
                <a:gridCol w="1070580">
                  <a:extLst>
                    <a:ext uri="{9D8B030D-6E8A-4147-A177-3AD203B41FA5}">
                      <a16:colId xmlns="" xmlns:a16="http://schemas.microsoft.com/office/drawing/2014/main" val="1856821049"/>
                    </a:ext>
                  </a:extLst>
                </a:gridCol>
              </a:tblGrid>
              <a:tr h="6479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TIPO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SEMANA 31.AGO   AL 06.SEP.026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2026 A LA FECHA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54886701"/>
                  </a:ext>
                </a:extLst>
              </a:tr>
              <a:tr h="3014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Armas de Fuego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6</a:t>
                      </a:r>
                      <a:endParaRPr lang="es-CL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77</a:t>
                      </a:r>
                      <a:endParaRPr lang="es-CL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11434471"/>
                  </a:ext>
                </a:extLst>
              </a:tr>
              <a:tr h="3014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Aire Comprimido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es-CL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18</a:t>
                      </a:r>
                      <a:endParaRPr lang="es-CL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81694541"/>
                  </a:ext>
                </a:extLst>
              </a:tr>
              <a:tr h="3014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Armas Hechizas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s-CL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12</a:t>
                      </a:r>
                      <a:endParaRPr lang="es-CL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60861520"/>
                  </a:ext>
                </a:extLst>
              </a:tr>
              <a:tr h="3641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Armas Fogueo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es-CL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19</a:t>
                      </a:r>
                      <a:endParaRPr lang="es-CL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2769265"/>
                  </a:ext>
                </a:extLst>
              </a:tr>
              <a:tr h="3307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Armas de Fantasía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s-CL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es-CL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24934702"/>
                  </a:ext>
                </a:extLst>
              </a:tr>
              <a:tr h="301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12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128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27373514"/>
                  </a:ext>
                </a:extLst>
              </a:tr>
              <a:tr h="3336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FUENTE: Brain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7524046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 rot="5400000">
            <a:off x="-1047750" y="1047115"/>
            <a:ext cx="2216785" cy="12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3"/>
          <p:cNvSpPr/>
          <p:nvPr/>
        </p:nvSpPr>
        <p:spPr>
          <a:xfrm rot="5400000">
            <a:off x="-1047750" y="3263900"/>
            <a:ext cx="2216785" cy="12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763270" y="447853"/>
            <a:ext cx="704422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s-CL" sz="1800" b="1" i="0" u="none" strike="noStrike" cap="none" dirty="0">
                <a:solidFill>
                  <a:srgbClr val="002060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DROGA INCAUTADA</a:t>
            </a:r>
            <a:endParaRPr lang="es-CL" sz="1800" i="0" u="none" strike="noStrike" cap="none" dirty="0"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s-MX" sz="1800" b="1" dirty="0">
                <a:solidFill>
                  <a:schemeClr val="dk2"/>
                </a:solidFill>
              </a:rPr>
              <a:t>Semana del 31.AGO AL 06.SEP.026</a:t>
            </a:r>
            <a:endParaRPr lang="es-MX" sz="1800" dirty="0"/>
          </a:p>
        </p:txBody>
      </p:sp>
      <p:sp>
        <p:nvSpPr>
          <p:cNvPr id="143" name="Google Shape;143;p3" descr="Aumenta incautación de drogas, pese a pandemi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3" descr="blob:https://web.whatsapp.com/a6df300f-d6b5-40d3-a946-ee26c2b9ff73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s-CL"/>
          </a:p>
        </p:txBody>
      </p:sp>
      <p:sp>
        <p:nvSpPr>
          <p:cNvPr id="16" name="CuadroTexto 15"/>
          <p:cNvSpPr txBox="1"/>
          <p:nvPr/>
        </p:nvSpPr>
        <p:spPr>
          <a:xfrm>
            <a:off x="885491" y="4387313"/>
            <a:ext cx="4867243" cy="88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None/>
            </a:pPr>
            <a:endParaRPr lang="es-CL" sz="1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None/>
            </a:pPr>
            <a:endParaRPr lang="es-CL" sz="1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(*) </a:t>
            </a:r>
            <a:r>
              <a:rPr lang="es-CL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Droga Sintética:</a:t>
            </a:r>
            <a:r>
              <a:rPr lang="es-CL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CL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Ketamina, Ketamina (Tusi), MDMA (éxtasis), Metanfetamina.</a:t>
            </a:r>
          </a:p>
        </p:txBody>
      </p:sp>
      <p:graphicFrame>
        <p:nvGraphicFramePr>
          <p:cNvPr id="14" name="Tabla 13">
            <a:extLst>
              <a:ext uri="{FF2B5EF4-FFF2-40B4-BE49-F238E27FC236}">
                <a16:creationId xmlns="" xmlns:a16="http://schemas.microsoft.com/office/drawing/2014/main" id="{D151D24A-B88A-9523-5335-82DCC3BE5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616508"/>
              </p:ext>
            </p:extLst>
          </p:nvPr>
        </p:nvGraphicFramePr>
        <p:xfrm>
          <a:off x="577499" y="3264310"/>
          <a:ext cx="5600276" cy="1592826"/>
        </p:xfrm>
        <a:graphic>
          <a:graphicData uri="http://schemas.openxmlformats.org/drawingml/2006/table">
            <a:tbl>
              <a:tblPr firstRow="1" firstCol="1" bandRow="1"/>
              <a:tblGrid>
                <a:gridCol w="2816630">
                  <a:extLst>
                    <a:ext uri="{9D8B030D-6E8A-4147-A177-3AD203B41FA5}">
                      <a16:colId xmlns="" xmlns:a16="http://schemas.microsoft.com/office/drawing/2014/main" val="814232607"/>
                    </a:ext>
                  </a:extLst>
                </a:gridCol>
                <a:gridCol w="1571161">
                  <a:extLst>
                    <a:ext uri="{9D8B030D-6E8A-4147-A177-3AD203B41FA5}">
                      <a16:colId xmlns="" xmlns:a16="http://schemas.microsoft.com/office/drawing/2014/main" val="3373932263"/>
                    </a:ext>
                  </a:extLst>
                </a:gridCol>
                <a:gridCol w="1212485">
                  <a:extLst>
                    <a:ext uri="{9D8B030D-6E8A-4147-A177-3AD203B41FA5}">
                      <a16:colId xmlns="" xmlns:a16="http://schemas.microsoft.com/office/drawing/2014/main" val="883123323"/>
                    </a:ext>
                  </a:extLst>
                </a:gridCol>
              </a:tblGrid>
              <a:tr h="54891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s-CL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+mn-cs"/>
                          <a:sym typeface="Arial" panose="020B0604020202020204"/>
                        </a:rPr>
                        <a:t>DROGA</a:t>
                      </a:r>
                      <a:endParaRPr lang="es-CL" sz="1400" b="1" i="0" u="none" strike="noStrike" cap="non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  <a:sym typeface="Arial" panose="020B0604020202020204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s-CL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+mn-cs"/>
                          <a:sym typeface="Arial" panose="020B0604020202020204"/>
                        </a:rPr>
                        <a:t>SEMANA 31.AGO AL 06.SEP.026</a:t>
                      </a:r>
                      <a:endParaRPr lang="es-CL" sz="1400" b="1" i="0" u="none" strike="noStrike" cap="non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  <a:sym typeface="Arial" panose="020B0604020202020204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s-CL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+mn-cs"/>
                          <a:sym typeface="Arial" panose="020B0604020202020204"/>
                        </a:rPr>
                        <a:t>2026 A LA FECHA</a:t>
                      </a:r>
                      <a:endParaRPr lang="es-CL" sz="1400" b="1" i="0" u="none" strike="noStrike" cap="non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  <a:sym typeface="Arial" panose="020B0604020202020204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22232711"/>
                  </a:ext>
                </a:extLst>
              </a:tr>
              <a:tr h="548911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s-CL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+mn-cs"/>
                          <a:sym typeface="Arial" panose="020B0604020202020204"/>
                        </a:rPr>
                        <a:t>Cannabis Sativa Plantas (unidad)</a:t>
                      </a:r>
                      <a:endParaRPr lang="es-CL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  <a:sym typeface="Arial" panose="020B0604020202020204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s-MX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  <a:sym typeface="Arial" panose="020B0604020202020204"/>
                        </a:rPr>
                        <a:t>0</a:t>
                      </a:r>
                      <a:endParaRPr lang="es-CL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  <a:sym typeface="Arial" panose="020B0604020202020204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s-CL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+mn-cs"/>
                          <a:sym typeface="Arial" panose="020B0604020202020204"/>
                        </a:rPr>
                        <a:t>27.083</a:t>
                      </a:r>
                      <a:endParaRPr lang="es-CL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  <a:sym typeface="Arial" panose="020B0604020202020204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51952371"/>
                  </a:ext>
                </a:extLst>
              </a:tr>
              <a:tr h="262252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s-CL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+mn-cs"/>
                          <a:sym typeface="Arial" panose="020B0604020202020204"/>
                        </a:rPr>
                        <a:t>TOTAL</a:t>
                      </a:r>
                      <a:endParaRPr lang="es-CL" sz="1400" b="0" i="0" u="none" strike="noStrike" cap="non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  <a:sym typeface="Arial" panose="020B0604020202020204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s-MX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  <a:sym typeface="Arial" panose="020B0604020202020204"/>
                        </a:rPr>
                        <a:t>0</a:t>
                      </a:r>
                      <a:endParaRPr lang="es-CL" sz="1400" b="0" i="0" u="none" strike="noStrike" cap="non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  <a:sym typeface="Arial" panose="020B0604020202020204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s-CL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+mn-cs"/>
                          <a:sym typeface="Arial" panose="020B0604020202020204"/>
                        </a:rPr>
                        <a:t>27.083</a:t>
                      </a:r>
                      <a:endParaRPr lang="es-CL" sz="1400" b="1" i="0" u="none" strike="noStrike" cap="non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  <a:sym typeface="Arial" panose="020B0604020202020204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43276080"/>
                  </a:ext>
                </a:extLst>
              </a:tr>
              <a:tr h="232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FUENTE: Brain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59978678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="" xmlns:a16="http://schemas.microsoft.com/office/drawing/2014/main" id="{AAC7BD37-4543-FFB3-E32B-8FA59A792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746706"/>
              </p:ext>
            </p:extLst>
          </p:nvPr>
        </p:nvGraphicFramePr>
        <p:xfrm>
          <a:off x="577499" y="1184361"/>
          <a:ext cx="5483225" cy="1986172"/>
        </p:xfrm>
        <a:graphic>
          <a:graphicData uri="http://schemas.openxmlformats.org/drawingml/2006/table">
            <a:tbl>
              <a:tblPr firstRow="1" firstCol="1" bandRow="1"/>
              <a:tblGrid>
                <a:gridCol w="2436989">
                  <a:extLst>
                    <a:ext uri="{9D8B030D-6E8A-4147-A177-3AD203B41FA5}">
                      <a16:colId xmlns="" xmlns:a16="http://schemas.microsoft.com/office/drawing/2014/main" val="1393761554"/>
                    </a:ext>
                  </a:extLst>
                </a:gridCol>
                <a:gridCol w="1681498">
                  <a:extLst>
                    <a:ext uri="{9D8B030D-6E8A-4147-A177-3AD203B41FA5}">
                      <a16:colId xmlns="" xmlns:a16="http://schemas.microsoft.com/office/drawing/2014/main" val="3595583156"/>
                    </a:ext>
                  </a:extLst>
                </a:gridCol>
                <a:gridCol w="1364738">
                  <a:extLst>
                    <a:ext uri="{9D8B030D-6E8A-4147-A177-3AD203B41FA5}">
                      <a16:colId xmlns="" xmlns:a16="http://schemas.microsoft.com/office/drawing/2014/main" val="459782736"/>
                    </a:ext>
                  </a:extLst>
                </a:gridCol>
              </a:tblGrid>
              <a:tr h="4623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DROGA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SEMANA 31.AGO AL 06.SEP.026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2026 A LA FECHA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44275736"/>
                  </a:ext>
                </a:extLst>
              </a:tr>
              <a:tr h="1038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Cannabis Sativa (g.)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1,651,21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1.292.399,17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95019210"/>
                  </a:ext>
                </a:extLst>
              </a:tr>
              <a:tr h="3125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Clorhidrato Cocaína (g.)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45,24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516.460,69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135249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Cocaína Base (g.)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463,59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53.247,43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93536079"/>
                  </a:ext>
                </a:extLst>
              </a:tr>
              <a:tr h="2540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Sintéticas (g.) (*)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7,13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4.131,54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04756304"/>
                  </a:ext>
                </a:extLst>
              </a:tr>
              <a:tr h="486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 smtClean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s-CL" sz="1000" b="1" smtClean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.397,17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smtClean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1.866.238,83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9128517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FUENTE: Brain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3456441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="">
      <p:transition spd="slow"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/>
          <p:nvPr/>
        </p:nvSpPr>
        <p:spPr>
          <a:xfrm rot="5400000">
            <a:off x="-1047750" y="1047115"/>
            <a:ext cx="2216785" cy="12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27"/>
          <p:cNvSpPr/>
          <p:nvPr/>
        </p:nvSpPr>
        <p:spPr>
          <a:xfrm rot="5400000">
            <a:off x="-1047750" y="3263900"/>
            <a:ext cx="2216785" cy="12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485775" y="329705"/>
            <a:ext cx="625030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s-CL" sz="1800" b="1" i="0" u="none" strike="noStrike" cap="none" dirty="0">
                <a:solidFill>
                  <a:srgbClr val="002060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HOMICIDIOS</a:t>
            </a:r>
            <a:endParaRPr sz="1800" dirty="0">
              <a:highlight>
                <a:srgbClr val="FFFF00"/>
              </a:highlight>
              <a:latin typeface="+mn-lt"/>
            </a:endParaRPr>
          </a:p>
          <a:p>
            <a:pPr>
              <a:buSzPts val="2800"/>
            </a:pPr>
            <a:r>
              <a:rPr lang="es-MX" sz="1800" b="1" dirty="0">
                <a:solidFill>
                  <a:schemeClr val="dk2"/>
                </a:solidFill>
              </a:rPr>
              <a:t>Semana del 31.AGO AL 06</a:t>
            </a:r>
            <a:r>
              <a:rPr lang="es-MX" altLang="es-MX" sz="1800" b="1" dirty="0">
                <a:solidFill>
                  <a:schemeClr val="dk2"/>
                </a:solidFill>
              </a:rPr>
              <a:t>.SEP</a:t>
            </a:r>
            <a:r>
              <a:rPr lang="es-MX" sz="1800" b="1" dirty="0">
                <a:solidFill>
                  <a:schemeClr val="dk2"/>
                </a:solidFill>
              </a:rPr>
              <a:t>.026</a:t>
            </a:r>
            <a:endParaRPr lang="es-MX" sz="1800" dirty="0"/>
          </a:p>
          <a:p>
            <a:pPr lvl="0">
              <a:buSzPts val="2800"/>
            </a:pPr>
            <a:endParaRPr lang="es-MX" sz="1800" b="1" dirty="0">
              <a:solidFill>
                <a:srgbClr val="757070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2" name="Tabla 11">
            <a:extLst>
              <a:ext uri="{FF2B5EF4-FFF2-40B4-BE49-F238E27FC236}">
                <a16:creationId xmlns="" xmlns:a16="http://schemas.microsoft.com/office/drawing/2014/main" id="{527622BF-2D2A-9454-EADD-748D71700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430512"/>
              </p:ext>
            </p:extLst>
          </p:nvPr>
        </p:nvGraphicFramePr>
        <p:xfrm>
          <a:off x="129540" y="1166332"/>
          <a:ext cx="3980539" cy="2176003"/>
        </p:xfrm>
        <a:graphic>
          <a:graphicData uri="http://schemas.openxmlformats.org/drawingml/2006/table">
            <a:tbl>
              <a:tblPr firstRow="1" firstCol="1" bandRow="1"/>
              <a:tblGrid>
                <a:gridCol w="1708923">
                  <a:extLst>
                    <a:ext uri="{9D8B030D-6E8A-4147-A177-3AD203B41FA5}">
                      <a16:colId xmlns="" xmlns:a16="http://schemas.microsoft.com/office/drawing/2014/main" val="4140730376"/>
                    </a:ext>
                  </a:extLst>
                </a:gridCol>
                <a:gridCol w="1135808">
                  <a:extLst>
                    <a:ext uri="{9D8B030D-6E8A-4147-A177-3AD203B41FA5}">
                      <a16:colId xmlns="" xmlns:a16="http://schemas.microsoft.com/office/drawing/2014/main" val="3448898748"/>
                    </a:ext>
                  </a:extLst>
                </a:gridCol>
                <a:gridCol w="1135808">
                  <a:extLst>
                    <a:ext uri="{9D8B030D-6E8A-4147-A177-3AD203B41FA5}">
                      <a16:colId xmlns="" xmlns:a16="http://schemas.microsoft.com/office/drawing/2014/main" val="3367657525"/>
                    </a:ext>
                  </a:extLst>
                </a:gridCol>
              </a:tblGrid>
              <a:tr h="7693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HOMICIDIOS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SEMANA DEL 31.AGO AL 06.SEP.026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AÑO 2026 A LA FECHA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33303215"/>
                  </a:ext>
                </a:extLst>
              </a:tr>
              <a:tr h="228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BH Valparaíso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07446032"/>
                  </a:ext>
                </a:extLst>
              </a:tr>
              <a:tr h="228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BH Los Andes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73971685"/>
                  </a:ext>
                </a:extLst>
              </a:tr>
              <a:tr h="2387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BH San Antonio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63175449"/>
                  </a:ext>
                </a:extLst>
              </a:tr>
              <a:tr h="2387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GENERAL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17159400"/>
                  </a:ext>
                </a:extLst>
              </a:tr>
              <a:tr h="472414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FUENTE: Elaboración propia a partir de las concurrencias BH </a:t>
                      </a:r>
                      <a:r>
                        <a:rPr lang="es-CL" sz="1000" i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Repol</a:t>
                      </a:r>
                      <a:r>
                        <a:rPr lang="es-CL" sz="10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L" sz="1000" i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Vpo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9821320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="" xmlns:a16="http://schemas.microsoft.com/office/drawing/2014/main" id="{B41A36AB-4B90-FD36-634D-5C5C19CE2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066111"/>
              </p:ext>
            </p:extLst>
          </p:nvPr>
        </p:nvGraphicFramePr>
        <p:xfrm>
          <a:off x="4231645" y="1147219"/>
          <a:ext cx="3728709" cy="2172000"/>
        </p:xfrm>
        <a:graphic>
          <a:graphicData uri="http://schemas.openxmlformats.org/drawingml/2006/table">
            <a:tbl>
              <a:tblPr firstRow="1" firstCol="1" bandRow="1"/>
              <a:tblGrid>
                <a:gridCol w="1810776">
                  <a:extLst>
                    <a:ext uri="{9D8B030D-6E8A-4147-A177-3AD203B41FA5}">
                      <a16:colId xmlns="" xmlns:a16="http://schemas.microsoft.com/office/drawing/2014/main" val="2574463108"/>
                    </a:ext>
                  </a:extLst>
                </a:gridCol>
                <a:gridCol w="1210060">
                  <a:extLst>
                    <a:ext uri="{9D8B030D-6E8A-4147-A177-3AD203B41FA5}">
                      <a16:colId xmlns="" xmlns:a16="http://schemas.microsoft.com/office/drawing/2014/main" val="3619358314"/>
                    </a:ext>
                  </a:extLst>
                </a:gridCol>
                <a:gridCol w="707873">
                  <a:extLst>
                    <a:ext uri="{9D8B030D-6E8A-4147-A177-3AD203B41FA5}">
                      <a16:colId xmlns="" xmlns:a16="http://schemas.microsoft.com/office/drawing/2014/main" val="3460374370"/>
                    </a:ext>
                  </a:extLst>
                </a:gridCol>
              </a:tblGrid>
              <a:tr h="6399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HOMICIDIOS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01.ENE AL 06.SEP.026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 AÑO      2026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43307655"/>
                  </a:ext>
                </a:extLst>
              </a:tr>
              <a:tr h="2338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 Detenido PDI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50,0%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05410031"/>
                  </a:ext>
                </a:extLst>
              </a:tr>
              <a:tr h="2338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Esclarecido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18,5%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66665125"/>
                  </a:ext>
                </a:extLst>
              </a:tr>
              <a:tr h="2338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Identificado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14,8%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94753542"/>
                  </a:ext>
                </a:extLst>
              </a:tr>
              <a:tr h="2215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Investigación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16,7%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49395526"/>
                  </a:ext>
                </a:extLst>
              </a:tr>
              <a:tr h="2584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GENERAL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99432372"/>
                  </a:ext>
                </a:extLst>
              </a:tr>
              <a:tr h="21185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FUENTE: Elaboración propia a partir de las concurrencias BH Repol Vpo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66734091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="" xmlns:a16="http://schemas.microsoft.com/office/drawing/2014/main" id="{A5AF0AAC-3096-D1EC-10DB-AAA38C6A2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371415"/>
              </p:ext>
            </p:extLst>
          </p:nvPr>
        </p:nvGraphicFramePr>
        <p:xfrm>
          <a:off x="407267" y="3668751"/>
          <a:ext cx="7008293" cy="2859544"/>
        </p:xfrm>
        <a:graphic>
          <a:graphicData uri="http://schemas.openxmlformats.org/drawingml/2006/table">
            <a:tbl>
              <a:tblPr firstRow="1" firstCol="1" bandRow="1"/>
              <a:tblGrid>
                <a:gridCol w="2317440">
                  <a:extLst>
                    <a:ext uri="{9D8B030D-6E8A-4147-A177-3AD203B41FA5}">
                      <a16:colId xmlns="" xmlns:a16="http://schemas.microsoft.com/office/drawing/2014/main" val="952206197"/>
                    </a:ext>
                  </a:extLst>
                </a:gridCol>
                <a:gridCol w="1315009">
                  <a:extLst>
                    <a:ext uri="{9D8B030D-6E8A-4147-A177-3AD203B41FA5}">
                      <a16:colId xmlns="" xmlns:a16="http://schemas.microsoft.com/office/drawing/2014/main" val="2927133733"/>
                    </a:ext>
                  </a:extLst>
                </a:gridCol>
                <a:gridCol w="1315009">
                  <a:extLst>
                    <a:ext uri="{9D8B030D-6E8A-4147-A177-3AD203B41FA5}">
                      <a16:colId xmlns="" xmlns:a16="http://schemas.microsoft.com/office/drawing/2014/main" val="2535005782"/>
                    </a:ext>
                  </a:extLst>
                </a:gridCol>
                <a:gridCol w="1030055">
                  <a:extLst>
                    <a:ext uri="{9D8B030D-6E8A-4147-A177-3AD203B41FA5}">
                      <a16:colId xmlns="" xmlns:a16="http://schemas.microsoft.com/office/drawing/2014/main" val="73096176"/>
                    </a:ext>
                  </a:extLst>
                </a:gridCol>
                <a:gridCol w="1030780">
                  <a:extLst>
                    <a:ext uri="{9D8B030D-6E8A-4147-A177-3AD203B41FA5}">
                      <a16:colId xmlns="" xmlns:a16="http://schemas.microsoft.com/office/drawing/2014/main" val="3238497728"/>
                    </a:ext>
                  </a:extLst>
                </a:gridCol>
              </a:tblGrid>
              <a:tr h="390732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MODALIDAD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SEMANA DEL 31.AGO  AL 06.SEP.026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AÑO 2026 A LA FECHA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93374542"/>
                  </a:ext>
                </a:extLst>
              </a:tr>
              <a:tr h="409272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BH Valparaíso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BH Los Andes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BH San Antonio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68309549"/>
                  </a:ext>
                </a:extLst>
              </a:tr>
              <a:tr h="4137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Arma de Fuego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66746181"/>
                  </a:ext>
                </a:extLst>
              </a:tr>
              <a:tr h="4137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Arma Cortante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09584874"/>
                  </a:ext>
                </a:extLst>
              </a:tr>
              <a:tr h="4137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Elemento Contundente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62254555"/>
                  </a:ext>
                </a:extLst>
              </a:tr>
              <a:tr h="4137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Otras Modalidades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73787620"/>
                  </a:ext>
                </a:extLst>
              </a:tr>
              <a:tr h="2068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GENERAL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1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41739208"/>
                  </a:ext>
                </a:extLst>
              </a:tr>
              <a:tr h="197818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FUENTE: Elaboración propia a partir de las concurrencias BH Repol Vpo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7785718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push dir="r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 rot="5400000">
            <a:off x="-1047750" y="1047115"/>
            <a:ext cx="2216785" cy="12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28"/>
          <p:cNvSpPr/>
          <p:nvPr/>
        </p:nvSpPr>
        <p:spPr>
          <a:xfrm rot="5400000">
            <a:off x="-1047750" y="3263900"/>
            <a:ext cx="2216785" cy="12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255216" y="184786"/>
            <a:ext cx="719539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s-CL" sz="1600" b="1" i="0" u="none" strike="noStrike" cap="none" dirty="0">
                <a:solidFill>
                  <a:schemeClr val="bg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MIGRACIONES Y POLICÍA INTERNACIONAL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s-CL" sz="1600" b="1" i="0" u="none" strike="noStrike" cap="none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Fiscalizaciones a Extranjeros</a:t>
            </a:r>
            <a:r>
              <a:rPr lang="es-CL" sz="1600" b="1" dirty="0">
                <a:solidFill>
                  <a:srgbClr val="7F7F7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s-MX" sz="1600" b="1" dirty="0">
                <a:solidFill>
                  <a:schemeClr val="dk2"/>
                </a:solidFill>
              </a:rPr>
              <a:t>Semana del 31.AGO AL 06.SEP.026</a:t>
            </a:r>
            <a:endParaRPr lang="es-MX" sz="1600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="" xmlns:a16="http://schemas.microsoft.com/office/drawing/2014/main" id="{DB3DC1C9-30EE-889A-EBB2-06B0FB2D1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01700"/>
              </p:ext>
            </p:extLst>
          </p:nvPr>
        </p:nvGraphicFramePr>
        <p:xfrm>
          <a:off x="458842" y="1177369"/>
          <a:ext cx="7785997" cy="4894902"/>
        </p:xfrm>
        <a:graphic>
          <a:graphicData uri="http://schemas.openxmlformats.org/drawingml/2006/table">
            <a:tbl>
              <a:tblPr firstRow="1" firstCol="1" bandRow="1"/>
              <a:tblGrid>
                <a:gridCol w="985889">
                  <a:extLst>
                    <a:ext uri="{9D8B030D-6E8A-4147-A177-3AD203B41FA5}">
                      <a16:colId xmlns="" xmlns:a16="http://schemas.microsoft.com/office/drawing/2014/main" val="2612833768"/>
                    </a:ext>
                  </a:extLst>
                </a:gridCol>
                <a:gridCol w="1239425">
                  <a:extLst>
                    <a:ext uri="{9D8B030D-6E8A-4147-A177-3AD203B41FA5}">
                      <a16:colId xmlns="" xmlns:a16="http://schemas.microsoft.com/office/drawing/2014/main" val="3264046099"/>
                    </a:ext>
                  </a:extLst>
                </a:gridCol>
                <a:gridCol w="1032730">
                  <a:extLst>
                    <a:ext uri="{9D8B030D-6E8A-4147-A177-3AD203B41FA5}">
                      <a16:colId xmlns="" xmlns:a16="http://schemas.microsoft.com/office/drawing/2014/main" val="4199056363"/>
                    </a:ext>
                  </a:extLst>
                </a:gridCol>
                <a:gridCol w="1031986">
                  <a:extLst>
                    <a:ext uri="{9D8B030D-6E8A-4147-A177-3AD203B41FA5}">
                      <a16:colId xmlns="" xmlns:a16="http://schemas.microsoft.com/office/drawing/2014/main" val="1641504374"/>
                    </a:ext>
                  </a:extLst>
                </a:gridCol>
                <a:gridCol w="861724">
                  <a:extLst>
                    <a:ext uri="{9D8B030D-6E8A-4147-A177-3AD203B41FA5}">
                      <a16:colId xmlns="" xmlns:a16="http://schemas.microsoft.com/office/drawing/2014/main" val="3217220517"/>
                    </a:ext>
                  </a:extLst>
                </a:gridCol>
                <a:gridCol w="947970">
                  <a:extLst>
                    <a:ext uri="{9D8B030D-6E8A-4147-A177-3AD203B41FA5}">
                      <a16:colId xmlns="" xmlns:a16="http://schemas.microsoft.com/office/drawing/2014/main" val="1202903843"/>
                    </a:ext>
                  </a:extLst>
                </a:gridCol>
                <a:gridCol w="1686273">
                  <a:extLst>
                    <a:ext uri="{9D8B030D-6E8A-4147-A177-3AD203B41FA5}">
                      <a16:colId xmlns="" xmlns:a16="http://schemas.microsoft.com/office/drawing/2014/main" val="1339276098"/>
                    </a:ext>
                  </a:extLst>
                </a:gridCol>
              </a:tblGrid>
              <a:tr h="239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UNIDAD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E7E6E6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FISCALIZACIONES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E7E6E6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FISCALIZADOS O CONSULTADOS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E7E6E6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DENUNCIADOS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NOTIFICACIÓN DE EXPULSIÓN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r>
                        <a:rPr lang="es-ES" sz="8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DETENIDOS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NACIONALIDAD DENUNCIADOS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62922007"/>
                  </a:ext>
                </a:extLst>
              </a:tr>
              <a:tr h="614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POLINT VPO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45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08 venezolanos (Art 32 N°3)             02 venezolanos (Art 109)                  01 colombiano (Art 119)                         01 argentino (Art 128 N4)                  01 haitiano (Art 32 N°3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6076800"/>
                  </a:ext>
                </a:extLst>
              </a:tr>
              <a:tr h="15549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POLINT VMA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45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 venezolanos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 colombiano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01 chino, Art. 32 N°3 in clan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02 chinos, Art. 109 trabajo sin autoriz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01 ecuatoriano, Art. 32 N°5 delito)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 venezolanos, Art. 32 N°3, In clan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02 colombianos, Art. 32 N° 3 in clan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01 argentino, Art. 32 N° 3 in clan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02143180"/>
                  </a:ext>
                </a:extLst>
              </a:tr>
              <a:tr h="3523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POLINT LAD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41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 argentino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 chino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9178758"/>
                  </a:ext>
                </a:extLst>
              </a:tr>
              <a:tr h="1368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POLINT SAN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1</a:t>
                      </a: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5</a:t>
                      </a: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0</a:t>
                      </a: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</a:rPr>
                        <a:t>0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kern="15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800" kern="15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41467875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SEPI QTO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01 colombiano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 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kern="15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04 venezolanos</a:t>
                      </a:r>
                      <a:endParaRPr lang="es-CL" sz="800" kern="15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54280876"/>
                  </a:ext>
                </a:extLst>
              </a:tr>
              <a:tr h="2599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SEPI IPA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</a:t>
                      </a:r>
                      <a:endParaRPr lang="es-CL" sz="80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</a:t>
                      </a:r>
                      <a:endParaRPr lang="es-CL" sz="80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kern="15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L" sz="800" kern="150" dirty="0">
                        <a:solidFill>
                          <a:srgbClr val="000000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74117122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TOTAL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                  8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 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161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 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effectLst/>
                          <a:latin typeface="+mj-lt"/>
                          <a:ea typeface="Calibri" panose="020F0502020204030204" pitchFamily="34" charset="0"/>
                        </a:rPr>
                        <a:t> </a:t>
                      </a:r>
                      <a:endParaRPr lang="es-CL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40</a:t>
                      </a:r>
                      <a:endParaRPr lang="es-CL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effectLst/>
                          <a:latin typeface="+mj-lt"/>
                          <a:ea typeface="Calibri" panose="020F0502020204030204" pitchFamily="34" charset="0"/>
                        </a:rPr>
                        <a:t> </a:t>
                      </a:r>
                      <a:endParaRPr lang="es-CL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effectLst/>
                          <a:latin typeface="+mj-lt"/>
                          <a:ea typeface="Calibri" panose="020F0502020204030204" pitchFamily="34" charset="0"/>
                        </a:rPr>
                        <a:t> </a:t>
                      </a:r>
                      <a:endParaRPr lang="es-CL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solidFill>
                            <a:srgbClr val="FFFFFF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8</a:t>
                      </a:r>
                      <a:endParaRPr lang="es-CL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800" b="1">
                          <a:effectLst/>
                          <a:latin typeface="+mj-lt"/>
                          <a:ea typeface="Calibri" panose="020F0502020204030204" pitchFamily="34" charset="0"/>
                        </a:rPr>
                        <a:t> </a:t>
                      </a:r>
                      <a:endParaRPr lang="es-CL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b="1">
                          <a:effectLst/>
                          <a:latin typeface="+mj-lt"/>
                          <a:ea typeface="Arial" panose="020B0604020202020204" pitchFamily="34" charset="0"/>
                        </a:rPr>
                        <a:t> </a:t>
                      </a:r>
                      <a:endParaRPr lang="es-CL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b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panose="020B0604020202020204" pitchFamily="34" charset="0"/>
                        </a:rPr>
                        <a:t>0</a:t>
                      </a:r>
                      <a:endParaRPr lang="es-CL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b="1">
                          <a:effectLst/>
                          <a:latin typeface="+mj-lt"/>
                          <a:ea typeface="Arial" panose="020B0604020202020204" pitchFamily="34" charset="0"/>
                        </a:rPr>
                        <a:t> </a:t>
                      </a:r>
                      <a:endParaRPr lang="es-CL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b="1" dirty="0">
                          <a:effectLst/>
                          <a:latin typeface="+mj-lt"/>
                          <a:ea typeface="Arial" panose="020B0604020202020204" pitchFamily="34" charset="0"/>
                        </a:rPr>
                        <a:t> 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b="1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rial" panose="020B0604020202020204" pitchFamily="34" charset="0"/>
                        </a:rPr>
                        <a:t>40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 b="1" dirty="0">
                          <a:effectLst/>
                          <a:latin typeface="+mj-lt"/>
                          <a:ea typeface="Arial" panose="020B0604020202020204" pitchFamily="34" charset="0"/>
                        </a:rPr>
                        <a:t> </a:t>
                      </a:r>
                      <a:endParaRPr lang="es-CL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29044" marR="2904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02046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flip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 rot="5400000">
            <a:off x="-1047750" y="1047115"/>
            <a:ext cx="2216785" cy="12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28"/>
          <p:cNvSpPr/>
          <p:nvPr/>
        </p:nvSpPr>
        <p:spPr>
          <a:xfrm rot="5400000">
            <a:off x="-1047750" y="3263900"/>
            <a:ext cx="2216785" cy="12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Google Shape;167;p28"/>
          <p:cNvSpPr/>
          <p:nvPr/>
        </p:nvSpPr>
        <p:spPr>
          <a:xfrm>
            <a:off x="427383" y="646430"/>
            <a:ext cx="848215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CL" sz="1800" b="1" dirty="0">
                <a:solidFill>
                  <a:schemeClr val="bg2"/>
                </a:solidFill>
              </a:rPr>
              <a:t>FLUJO MIGRATORIO COMPLEJO FRONTERIZO LOS LIBERTADORES (LIBERTADORES, USPALLATA Y HORCONES)</a:t>
            </a:r>
            <a:endParaRPr lang="es-CL" sz="1800" dirty="0">
              <a:solidFill>
                <a:schemeClr val="bg2"/>
              </a:solidFill>
            </a:endParaRPr>
          </a:p>
          <a:p>
            <a:pPr lvl="0">
              <a:buSzPts val="2800"/>
            </a:pPr>
            <a:endParaRPr lang="es-CL" sz="1800" b="1" dirty="0">
              <a:solidFill>
                <a:srgbClr val="757070"/>
              </a:solidFill>
              <a:highlight>
                <a:srgbClr val="FFFF00"/>
              </a:highlight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-126047" y="4314246"/>
            <a:ext cx="2792112" cy="25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228600"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sz="9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FUENTE: DEMIG LAD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="" xmlns:a16="http://schemas.microsoft.com/office/drawing/2014/main" id="{4037C707-5420-C3E8-FFE6-B9A6ECD17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24406"/>
              </p:ext>
            </p:extLst>
          </p:nvPr>
        </p:nvGraphicFramePr>
        <p:xfrm>
          <a:off x="1032387" y="1472835"/>
          <a:ext cx="9271819" cy="2733048"/>
        </p:xfrm>
        <a:graphic>
          <a:graphicData uri="http://schemas.openxmlformats.org/drawingml/2006/table">
            <a:tbl>
              <a:tblPr/>
              <a:tblGrid>
                <a:gridCol w="1216547">
                  <a:extLst>
                    <a:ext uri="{9D8B030D-6E8A-4147-A177-3AD203B41FA5}">
                      <a16:colId xmlns="" xmlns:a16="http://schemas.microsoft.com/office/drawing/2014/main" val="685422119"/>
                    </a:ext>
                  </a:extLst>
                </a:gridCol>
                <a:gridCol w="1290678">
                  <a:extLst>
                    <a:ext uri="{9D8B030D-6E8A-4147-A177-3AD203B41FA5}">
                      <a16:colId xmlns="" xmlns:a16="http://schemas.microsoft.com/office/drawing/2014/main" val="190870235"/>
                    </a:ext>
                  </a:extLst>
                </a:gridCol>
                <a:gridCol w="1101213">
                  <a:extLst>
                    <a:ext uri="{9D8B030D-6E8A-4147-A177-3AD203B41FA5}">
                      <a16:colId xmlns="" xmlns:a16="http://schemas.microsoft.com/office/drawing/2014/main" val="1901457799"/>
                    </a:ext>
                  </a:extLst>
                </a:gridCol>
                <a:gridCol w="1052052">
                  <a:extLst>
                    <a:ext uri="{9D8B030D-6E8A-4147-A177-3AD203B41FA5}">
                      <a16:colId xmlns="" xmlns:a16="http://schemas.microsoft.com/office/drawing/2014/main" val="2176325347"/>
                    </a:ext>
                  </a:extLst>
                </a:gridCol>
                <a:gridCol w="953729">
                  <a:extLst>
                    <a:ext uri="{9D8B030D-6E8A-4147-A177-3AD203B41FA5}">
                      <a16:colId xmlns="" xmlns:a16="http://schemas.microsoft.com/office/drawing/2014/main" val="2605254125"/>
                    </a:ext>
                  </a:extLst>
                </a:gridCol>
                <a:gridCol w="1111045">
                  <a:extLst>
                    <a:ext uri="{9D8B030D-6E8A-4147-A177-3AD203B41FA5}">
                      <a16:colId xmlns="" xmlns:a16="http://schemas.microsoft.com/office/drawing/2014/main" val="3833467433"/>
                    </a:ext>
                  </a:extLst>
                </a:gridCol>
                <a:gridCol w="855406">
                  <a:extLst>
                    <a:ext uri="{9D8B030D-6E8A-4147-A177-3AD203B41FA5}">
                      <a16:colId xmlns="" xmlns:a16="http://schemas.microsoft.com/office/drawing/2014/main" val="3620520009"/>
                    </a:ext>
                  </a:extLst>
                </a:gridCol>
                <a:gridCol w="668594">
                  <a:extLst>
                    <a:ext uri="{9D8B030D-6E8A-4147-A177-3AD203B41FA5}">
                      <a16:colId xmlns="" xmlns:a16="http://schemas.microsoft.com/office/drawing/2014/main" val="50308766"/>
                    </a:ext>
                  </a:extLst>
                </a:gridCol>
                <a:gridCol w="1022555">
                  <a:extLst>
                    <a:ext uri="{9D8B030D-6E8A-4147-A177-3AD203B41FA5}">
                      <a16:colId xmlns="" xmlns:a16="http://schemas.microsoft.com/office/drawing/2014/main" val="3064900613"/>
                    </a:ext>
                  </a:extLst>
                </a:gridCol>
              </a:tblGrid>
              <a:tr h="85722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FECHA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ENTRADOS LIBERTADORES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ENTRADOS USPALLATA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SALIDOS HORCONES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SALIDOS USPALLATA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ENTRADOS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SALIDOS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DETENIDOS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36853619"/>
                  </a:ext>
                </a:extLst>
              </a:tr>
              <a:tr h="4134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03.SEP.026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292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292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295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77069793"/>
                  </a:ext>
                </a:extLst>
              </a:tr>
              <a:tr h="4134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04.SEP.026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1.702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478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2.157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2.180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3.152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5.332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86330012"/>
                  </a:ext>
                </a:extLst>
              </a:tr>
              <a:tr h="4134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05.SEP.026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181717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1.274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181717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388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181717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1.617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181717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1.403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181717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1.662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181717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3.020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181717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4.682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94415801"/>
                  </a:ext>
                </a:extLst>
              </a:tr>
              <a:tr h="4134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06.SEP.026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260000"/>
                          </a:solidFill>
                          <a:effectLst/>
                          <a:latin typeface="Arial" panose="020B0604020202020204" pitchFamily="34" charset="0"/>
                        </a:rPr>
                        <a:t>1.567</a:t>
                      </a:r>
                      <a:endParaRPr lang="es-CL" sz="1200" b="0" i="0" u="none" strike="noStrike" dirty="0">
                        <a:solidFill>
                          <a:srgbClr val="26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260000"/>
                          </a:solidFill>
                          <a:effectLst/>
                          <a:latin typeface="Arial" panose="020B0604020202020204" pitchFamily="34" charset="0"/>
                        </a:rPr>
                        <a:t>725</a:t>
                      </a:r>
                      <a:endParaRPr lang="es-CL" sz="1200" b="0" i="0" u="none" strike="noStrike" dirty="0">
                        <a:solidFill>
                          <a:srgbClr val="26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260000"/>
                          </a:solidFill>
                          <a:effectLst/>
                          <a:latin typeface="Arial" panose="020B0604020202020204" pitchFamily="34" charset="0"/>
                        </a:rPr>
                        <a:t>1.236</a:t>
                      </a:r>
                      <a:endParaRPr lang="es-CL" sz="1200" b="0" i="0" u="none" strike="noStrike" dirty="0">
                        <a:solidFill>
                          <a:srgbClr val="26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260000"/>
                          </a:solidFill>
                          <a:effectLst/>
                          <a:latin typeface="Arial" panose="020B0604020202020204" pitchFamily="34" charset="0"/>
                        </a:rPr>
                        <a:t>271</a:t>
                      </a:r>
                      <a:endParaRPr lang="es-CL" sz="1200" b="0" i="0" u="none" strike="noStrike" dirty="0">
                        <a:solidFill>
                          <a:srgbClr val="26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260000"/>
                          </a:solidFill>
                          <a:effectLst/>
                          <a:latin typeface="Arial" panose="020B0604020202020204" pitchFamily="34" charset="0"/>
                        </a:rPr>
                        <a:t>2.292</a:t>
                      </a:r>
                      <a:endParaRPr lang="es-CL" sz="1200" b="0" i="0" u="none" strike="noStrike" dirty="0">
                        <a:solidFill>
                          <a:srgbClr val="26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260000"/>
                          </a:solidFill>
                          <a:effectLst/>
                          <a:latin typeface="Arial" panose="020B0604020202020204" pitchFamily="34" charset="0"/>
                        </a:rPr>
                        <a:t>1.507</a:t>
                      </a:r>
                      <a:endParaRPr lang="es-CL" sz="1200" b="0" i="0" u="none" strike="noStrike" dirty="0">
                        <a:solidFill>
                          <a:srgbClr val="26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260000"/>
                          </a:solidFill>
                          <a:effectLst/>
                          <a:latin typeface="Arial" panose="020B0604020202020204" pitchFamily="34" charset="0"/>
                        </a:rPr>
                        <a:t>3.799</a:t>
                      </a:r>
                      <a:endParaRPr lang="es-CL" sz="1200" b="0" i="0" u="none" strike="noStrike" dirty="0">
                        <a:solidFill>
                          <a:srgbClr val="26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60791021"/>
                  </a:ext>
                </a:extLst>
              </a:tr>
              <a:tr h="2218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4.543</a:t>
                      </a:r>
                      <a:endParaRPr lang="es-CL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1.883</a:t>
                      </a:r>
                      <a:endParaRPr lang="es-CL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5.010</a:t>
                      </a:r>
                      <a:endParaRPr lang="es-CL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2.672</a:t>
                      </a:r>
                      <a:endParaRPr lang="es-CL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6.426</a:t>
                      </a:r>
                      <a:endParaRPr lang="es-CL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7.682</a:t>
                      </a:r>
                      <a:endParaRPr lang="es-CL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14.108</a:t>
                      </a:r>
                      <a:endParaRPr lang="es-CL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s-CL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1582674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flip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/>
          <p:nvPr/>
        </p:nvSpPr>
        <p:spPr>
          <a:xfrm rot="5400000">
            <a:off x="-1047750" y="1047115"/>
            <a:ext cx="2216785" cy="12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29"/>
          <p:cNvSpPr/>
          <p:nvPr/>
        </p:nvSpPr>
        <p:spPr>
          <a:xfrm rot="5400000">
            <a:off x="-1047750" y="3263900"/>
            <a:ext cx="2216785" cy="12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p29"/>
          <p:cNvSpPr/>
          <p:nvPr/>
        </p:nvSpPr>
        <p:spPr>
          <a:xfrm>
            <a:off x="488140" y="441525"/>
            <a:ext cx="771908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s-MX" sz="1800" b="1" dirty="0">
                <a:solidFill>
                  <a:srgbClr val="002060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BANDAS DESARTICULADAS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s-MX" sz="1800" b="1" dirty="0">
                <a:solidFill>
                  <a:schemeClr val="dk2"/>
                </a:solidFill>
              </a:rPr>
              <a:t>Semana del 31.AGO  AL 06</a:t>
            </a:r>
            <a:r>
              <a:rPr lang="es-MX" altLang="es-MX" sz="1800" b="1" dirty="0">
                <a:solidFill>
                  <a:schemeClr val="dk2"/>
                </a:solidFill>
              </a:rPr>
              <a:t>.SEP</a:t>
            </a:r>
            <a:r>
              <a:rPr lang="es-MX" sz="1800" b="1" dirty="0">
                <a:solidFill>
                  <a:schemeClr val="dk2"/>
                </a:solidFill>
              </a:rPr>
              <a:t>.026</a:t>
            </a:r>
            <a:endParaRPr lang="es-MX" sz="1800" dirty="0"/>
          </a:p>
        </p:txBody>
      </p:sp>
      <p:sp>
        <p:nvSpPr>
          <p:cNvPr id="4" name="Google Shape;179;p29">
            <a:extLst>
              <a:ext uri="{FF2B5EF4-FFF2-40B4-BE49-F238E27FC236}">
                <a16:creationId xmlns="" xmlns:a16="http://schemas.microsoft.com/office/drawing/2014/main" id="{C2899C16-DD98-81D1-E664-E3E6EC9DE470}"/>
              </a:ext>
            </a:extLst>
          </p:cNvPr>
          <p:cNvSpPr/>
          <p:nvPr/>
        </p:nvSpPr>
        <p:spPr>
          <a:xfrm>
            <a:off x="6500320" y="441525"/>
            <a:ext cx="549839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s-CL" sz="1800" b="1" dirty="0">
                <a:solidFill>
                  <a:srgbClr val="002060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VEHÍCULOS INCAUTADOS Y RECUPERADOS.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s-MX" sz="1800" b="1" dirty="0">
                <a:solidFill>
                  <a:schemeClr val="dk2"/>
                </a:solidFill>
              </a:rPr>
              <a:t>Semana del 31.AGO AL 06.SEP.026</a:t>
            </a:r>
            <a:endParaRPr lang="es-MX" sz="18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="" xmlns:a16="http://schemas.microsoft.com/office/drawing/2014/main" id="{9818610A-00F8-9F3C-7352-777FAB531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783248"/>
              </p:ext>
            </p:extLst>
          </p:nvPr>
        </p:nvGraphicFramePr>
        <p:xfrm>
          <a:off x="6665114" y="1261551"/>
          <a:ext cx="4822515" cy="1805033"/>
        </p:xfrm>
        <a:graphic>
          <a:graphicData uri="http://schemas.openxmlformats.org/drawingml/2006/table">
            <a:tbl>
              <a:tblPr firstRow="1" firstCol="1" bandRow="1"/>
              <a:tblGrid>
                <a:gridCol w="1776716">
                  <a:extLst>
                    <a:ext uri="{9D8B030D-6E8A-4147-A177-3AD203B41FA5}">
                      <a16:colId xmlns="" xmlns:a16="http://schemas.microsoft.com/office/drawing/2014/main" val="3826546506"/>
                    </a:ext>
                  </a:extLst>
                </a:gridCol>
                <a:gridCol w="1839396">
                  <a:extLst>
                    <a:ext uri="{9D8B030D-6E8A-4147-A177-3AD203B41FA5}">
                      <a16:colId xmlns="" xmlns:a16="http://schemas.microsoft.com/office/drawing/2014/main" val="4113605722"/>
                    </a:ext>
                  </a:extLst>
                </a:gridCol>
                <a:gridCol w="1206403">
                  <a:extLst>
                    <a:ext uri="{9D8B030D-6E8A-4147-A177-3AD203B41FA5}">
                      <a16:colId xmlns="" xmlns:a16="http://schemas.microsoft.com/office/drawing/2014/main" val="253744819"/>
                    </a:ext>
                  </a:extLst>
                </a:gridCol>
              </a:tblGrid>
              <a:tr h="8128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ESTADO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SEMANA 31.AGO AL 06.SEP.026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2026 A LA FECHA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60497296"/>
                  </a:ext>
                </a:extLst>
              </a:tr>
              <a:tr h="259060">
                <a:tc>
                  <a:txBody>
                    <a:bodyPr/>
                    <a:lstStyle/>
                    <a:p>
                      <a:pPr indent="12700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Incautado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14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85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8294595"/>
                  </a:ext>
                </a:extLst>
              </a:tr>
              <a:tr h="259060">
                <a:tc>
                  <a:txBody>
                    <a:bodyPr/>
                    <a:lstStyle/>
                    <a:p>
                      <a:pPr indent="12700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Recuperado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57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7147514"/>
                  </a:ext>
                </a:extLst>
              </a:tr>
              <a:tr h="2590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s-C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16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142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24190144"/>
                  </a:ext>
                </a:extLst>
              </a:tr>
              <a:tr h="214987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FUENTE: UU.DD REPOL VPO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1224446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="" xmlns:a16="http://schemas.microsoft.com/office/drawing/2014/main" id="{1FA8FB35-2856-384A-F84B-0C979B741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616481"/>
              </p:ext>
            </p:extLst>
          </p:nvPr>
        </p:nvGraphicFramePr>
        <p:xfrm>
          <a:off x="6665114" y="3423095"/>
          <a:ext cx="4822514" cy="2936429"/>
        </p:xfrm>
        <a:graphic>
          <a:graphicData uri="http://schemas.openxmlformats.org/drawingml/2006/table">
            <a:tbl>
              <a:tblPr firstRow="1" firstCol="1" bandRow="1"/>
              <a:tblGrid>
                <a:gridCol w="1990138">
                  <a:extLst>
                    <a:ext uri="{9D8B030D-6E8A-4147-A177-3AD203B41FA5}">
                      <a16:colId xmlns="" xmlns:a16="http://schemas.microsoft.com/office/drawing/2014/main" val="4196459044"/>
                    </a:ext>
                  </a:extLst>
                </a:gridCol>
                <a:gridCol w="1488348">
                  <a:extLst>
                    <a:ext uri="{9D8B030D-6E8A-4147-A177-3AD203B41FA5}">
                      <a16:colId xmlns="" xmlns:a16="http://schemas.microsoft.com/office/drawing/2014/main" val="1694164993"/>
                    </a:ext>
                  </a:extLst>
                </a:gridCol>
                <a:gridCol w="1344028">
                  <a:extLst>
                    <a:ext uri="{9D8B030D-6E8A-4147-A177-3AD203B41FA5}">
                      <a16:colId xmlns="" xmlns:a16="http://schemas.microsoft.com/office/drawing/2014/main" val="1650297078"/>
                    </a:ext>
                  </a:extLst>
                </a:gridCol>
              </a:tblGrid>
              <a:tr h="5811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TIPO DE VEHÍCULO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SEMANA 31.AGO AL 06.SEP.026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2026 A LA FECHA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21205427"/>
                  </a:ext>
                </a:extLst>
              </a:tr>
              <a:tr h="225949">
                <a:tc>
                  <a:txBody>
                    <a:bodyPr/>
                    <a:lstStyle/>
                    <a:p>
                      <a:pPr indent="12700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Camión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</a:t>
                      </a:r>
                      <a:endParaRPr lang="es-CL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8</a:t>
                      </a:r>
                      <a:endParaRPr lang="es-CL" sz="14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17953522"/>
                  </a:ext>
                </a:extLst>
              </a:tr>
              <a:tr h="212858">
                <a:tc>
                  <a:txBody>
                    <a:bodyPr/>
                    <a:lstStyle/>
                    <a:p>
                      <a:pPr indent="12700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Motocicleta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</a:t>
                      </a:r>
                      <a:endParaRPr lang="es-CL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13</a:t>
                      </a:r>
                      <a:endParaRPr lang="es-CL" sz="14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28106587"/>
                  </a:ext>
                </a:extLst>
              </a:tr>
              <a:tr h="212858">
                <a:tc>
                  <a:txBody>
                    <a:bodyPr/>
                    <a:lstStyle/>
                    <a:p>
                      <a:pPr indent="12700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Tractocamión</a:t>
                      </a:r>
                      <a:endParaRPr lang="es-C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</a:t>
                      </a:r>
                      <a:endParaRPr lang="es-CL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es-CL" sz="14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45531299"/>
                  </a:ext>
                </a:extLst>
              </a:tr>
              <a:tr h="212858">
                <a:tc>
                  <a:txBody>
                    <a:bodyPr/>
                    <a:lstStyle/>
                    <a:p>
                      <a:pPr indent="12700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Veh. Furgón</a:t>
                      </a:r>
                      <a:endParaRPr lang="es-C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</a:t>
                      </a:r>
                      <a:endParaRPr lang="es-CL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7</a:t>
                      </a:r>
                      <a:endParaRPr lang="es-CL" sz="14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60632063"/>
                  </a:ext>
                </a:extLst>
              </a:tr>
              <a:tr h="212858">
                <a:tc>
                  <a:txBody>
                    <a:bodyPr/>
                    <a:lstStyle/>
                    <a:p>
                      <a:pPr indent="12700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Maquinaria (retroexcavadora)</a:t>
                      </a:r>
                      <a:endParaRPr lang="es-C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0</a:t>
                      </a:r>
                      <a:endParaRPr lang="es-CL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es-CL" sz="14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9791605"/>
                  </a:ext>
                </a:extLst>
              </a:tr>
              <a:tr h="212858">
                <a:tc>
                  <a:txBody>
                    <a:bodyPr/>
                    <a:lstStyle/>
                    <a:p>
                      <a:pPr indent="12700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Automóvil (Suv)</a:t>
                      </a:r>
                      <a:endParaRPr lang="es-C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15</a:t>
                      </a:r>
                      <a:endParaRPr lang="es-CL" sz="14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r>
                        <a:rPr lang="es-CL" sz="14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11</a:t>
                      </a:r>
                      <a:endParaRPr lang="es-CL" sz="14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24360407"/>
                  </a:ext>
                </a:extLst>
              </a:tr>
              <a:tr h="2128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s-C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4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16</a:t>
                      </a:r>
                      <a:endParaRPr lang="es-CL" sz="14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142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4928229"/>
                  </a:ext>
                </a:extLst>
              </a:tr>
              <a:tr h="237425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FUENTE: UU.DD REPOL VPO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66524542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="" xmlns:a16="http://schemas.microsoft.com/office/drawing/2014/main" id="{C3709D59-5AF7-5683-7013-BA807A78C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086268"/>
              </p:ext>
            </p:extLst>
          </p:nvPr>
        </p:nvGraphicFramePr>
        <p:xfrm>
          <a:off x="488140" y="1240620"/>
          <a:ext cx="5307965" cy="1847977"/>
        </p:xfrm>
        <a:graphic>
          <a:graphicData uri="http://schemas.openxmlformats.org/drawingml/2006/table">
            <a:tbl>
              <a:tblPr firstRow="1" firstCol="1" bandRow="1"/>
              <a:tblGrid>
                <a:gridCol w="1282700">
                  <a:extLst>
                    <a:ext uri="{9D8B030D-6E8A-4147-A177-3AD203B41FA5}">
                      <a16:colId xmlns="" xmlns:a16="http://schemas.microsoft.com/office/drawing/2014/main" val="539656800"/>
                    </a:ext>
                  </a:extLst>
                </a:gridCol>
                <a:gridCol w="1384300">
                  <a:extLst>
                    <a:ext uri="{9D8B030D-6E8A-4147-A177-3AD203B41FA5}">
                      <a16:colId xmlns="" xmlns:a16="http://schemas.microsoft.com/office/drawing/2014/main" val="1524338017"/>
                    </a:ext>
                  </a:extLst>
                </a:gridCol>
                <a:gridCol w="1380490">
                  <a:extLst>
                    <a:ext uri="{9D8B030D-6E8A-4147-A177-3AD203B41FA5}">
                      <a16:colId xmlns="" xmlns:a16="http://schemas.microsoft.com/office/drawing/2014/main" val="263833773"/>
                    </a:ext>
                  </a:extLst>
                </a:gridCol>
                <a:gridCol w="1260475">
                  <a:extLst>
                    <a:ext uri="{9D8B030D-6E8A-4147-A177-3AD203B41FA5}">
                      <a16:colId xmlns="" xmlns:a16="http://schemas.microsoft.com/office/drawing/2014/main" val="390581112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BANDAS DESARTICULADAS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CANTIDAD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INTEGRANTES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DELITO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714556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PROVPO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ART 3 LEY 20.000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9890782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PROVPO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ASOCIACION DELICTUAL, SABOTAJE INFORMATICO Y LAVADO DE ACTIVOS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48431097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PREVMA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LEY 20.000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9887038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PROSAN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5979699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PROLAD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LEY 20.000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91760020"/>
                  </a:ext>
                </a:extLst>
              </a:tr>
              <a:tr h="200025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FUENTE: UU.DD REPOL VPO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4502395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/>
          <p:nvPr/>
        </p:nvSpPr>
        <p:spPr>
          <a:xfrm rot="5400000">
            <a:off x="-1047750" y="1047115"/>
            <a:ext cx="2216785" cy="12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29"/>
          <p:cNvSpPr/>
          <p:nvPr/>
        </p:nvSpPr>
        <p:spPr>
          <a:xfrm rot="5400000">
            <a:off x="-1047750" y="3263900"/>
            <a:ext cx="2216785" cy="12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p29"/>
          <p:cNvSpPr/>
          <p:nvPr/>
        </p:nvSpPr>
        <p:spPr>
          <a:xfrm>
            <a:off x="488140" y="441525"/>
            <a:ext cx="472588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s-CL" sz="1800" b="1" dirty="0">
                <a:solidFill>
                  <a:srgbClr val="002060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DETENIDOS Y ARRESTADOS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s-MX" sz="1800" b="1" dirty="0">
                <a:solidFill>
                  <a:schemeClr val="dk2"/>
                </a:solidFill>
              </a:rPr>
              <a:t>Semana del 31.AGO  AL 06</a:t>
            </a:r>
            <a:r>
              <a:rPr lang="es-MX" altLang="es-MX" sz="1800" b="1" dirty="0">
                <a:solidFill>
                  <a:schemeClr val="dk2"/>
                </a:solidFill>
              </a:rPr>
              <a:t>.SEP</a:t>
            </a:r>
            <a:r>
              <a:rPr lang="es-MX" sz="1800" b="1" dirty="0">
                <a:solidFill>
                  <a:schemeClr val="dk2"/>
                </a:solidFill>
              </a:rPr>
              <a:t>.026</a:t>
            </a:r>
            <a:endParaRPr lang="es-MX" sz="18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="" xmlns:a16="http://schemas.microsoft.com/office/drawing/2014/main" id="{700BCCF9-D81C-7718-70CA-F476D9F95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477765"/>
              </p:ext>
            </p:extLst>
          </p:nvPr>
        </p:nvGraphicFramePr>
        <p:xfrm>
          <a:off x="488140" y="1294636"/>
          <a:ext cx="5384800" cy="2451522"/>
        </p:xfrm>
        <a:graphic>
          <a:graphicData uri="http://schemas.openxmlformats.org/drawingml/2006/table">
            <a:tbl>
              <a:tblPr firstRow="1" firstCol="1" bandRow="1"/>
              <a:tblGrid>
                <a:gridCol w="2171700">
                  <a:extLst>
                    <a:ext uri="{9D8B030D-6E8A-4147-A177-3AD203B41FA5}">
                      <a16:colId xmlns="" xmlns:a16="http://schemas.microsoft.com/office/drawing/2014/main" val="22003979"/>
                    </a:ext>
                  </a:extLst>
                </a:gridCol>
                <a:gridCol w="1104900">
                  <a:extLst>
                    <a:ext uri="{9D8B030D-6E8A-4147-A177-3AD203B41FA5}">
                      <a16:colId xmlns="" xmlns:a16="http://schemas.microsoft.com/office/drawing/2014/main" val="3336940216"/>
                    </a:ext>
                  </a:extLst>
                </a:gridCol>
                <a:gridCol w="1003300">
                  <a:extLst>
                    <a:ext uri="{9D8B030D-6E8A-4147-A177-3AD203B41FA5}">
                      <a16:colId xmlns="" xmlns:a16="http://schemas.microsoft.com/office/drawing/2014/main" val="723170436"/>
                    </a:ext>
                  </a:extLst>
                </a:gridCol>
                <a:gridCol w="1104900">
                  <a:extLst>
                    <a:ext uri="{9D8B030D-6E8A-4147-A177-3AD203B41FA5}">
                      <a16:colId xmlns="" xmlns:a16="http://schemas.microsoft.com/office/drawing/2014/main" val="2202536958"/>
                    </a:ext>
                  </a:extLst>
                </a:gridCol>
              </a:tblGrid>
              <a:tr h="6954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PREFECTURA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ARRESTADO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DETENIDO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SEMANA 31.AGO AL 06.SEP.026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53369598"/>
                  </a:ext>
                </a:extLst>
              </a:tr>
              <a:tr h="221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PREVMA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5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17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00476804"/>
                  </a:ext>
                </a:extLst>
              </a:tr>
              <a:tr h="221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PROLAD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7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12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19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53115924"/>
                  </a:ext>
                </a:extLst>
              </a:tr>
              <a:tr h="221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PROVPO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15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15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73468267"/>
                  </a:ext>
                </a:extLst>
              </a:tr>
              <a:tr h="221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PROSAN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4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13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71087516"/>
                  </a:ext>
                </a:extLst>
              </a:tr>
              <a:tr h="221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PRECOCEN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9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49916177"/>
                  </a:ext>
                </a:extLst>
              </a:tr>
              <a:tr h="221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JENACIBER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62848640"/>
                  </a:ext>
                </a:extLst>
              </a:tr>
              <a:tr h="2216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21</a:t>
                      </a:r>
                      <a:endParaRPr lang="es-CL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52</a:t>
                      </a:r>
                      <a:endParaRPr lang="es-CL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73</a:t>
                      </a:r>
                      <a:endParaRPr lang="es-CL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00549516"/>
                  </a:ext>
                </a:extLst>
              </a:tr>
              <a:tr h="2044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FUENTE: Brain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117474899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="" xmlns:a16="http://schemas.microsoft.com/office/drawing/2014/main" id="{30A8C5DA-62CD-6C69-69A8-C1039E72C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233228"/>
              </p:ext>
            </p:extLst>
          </p:nvPr>
        </p:nvGraphicFramePr>
        <p:xfrm>
          <a:off x="488140" y="4092646"/>
          <a:ext cx="5305152" cy="2472665"/>
        </p:xfrm>
        <a:graphic>
          <a:graphicData uri="http://schemas.openxmlformats.org/drawingml/2006/table">
            <a:tbl>
              <a:tblPr firstRow="1" firstCol="1" bandRow="1"/>
              <a:tblGrid>
                <a:gridCol w="1651149">
                  <a:extLst>
                    <a:ext uri="{9D8B030D-6E8A-4147-A177-3AD203B41FA5}">
                      <a16:colId xmlns="" xmlns:a16="http://schemas.microsoft.com/office/drawing/2014/main" val="3974173371"/>
                    </a:ext>
                  </a:extLst>
                </a:gridCol>
                <a:gridCol w="1055117">
                  <a:extLst>
                    <a:ext uri="{9D8B030D-6E8A-4147-A177-3AD203B41FA5}">
                      <a16:colId xmlns="" xmlns:a16="http://schemas.microsoft.com/office/drawing/2014/main" val="3586691089"/>
                    </a:ext>
                  </a:extLst>
                </a:gridCol>
                <a:gridCol w="1543769">
                  <a:extLst>
                    <a:ext uri="{9D8B030D-6E8A-4147-A177-3AD203B41FA5}">
                      <a16:colId xmlns="" xmlns:a16="http://schemas.microsoft.com/office/drawing/2014/main" val="1307739227"/>
                    </a:ext>
                  </a:extLst>
                </a:gridCol>
                <a:gridCol w="1055117">
                  <a:extLst>
                    <a:ext uri="{9D8B030D-6E8A-4147-A177-3AD203B41FA5}">
                      <a16:colId xmlns="" xmlns:a16="http://schemas.microsoft.com/office/drawing/2014/main" val="3240053514"/>
                    </a:ext>
                  </a:extLst>
                </a:gridCol>
              </a:tblGrid>
              <a:tr h="5858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PREFECTURA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ARRESTADO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DETENIDO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AÑO 2026 A LA FECHA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86225772"/>
                  </a:ext>
                </a:extLst>
              </a:tr>
              <a:tr h="242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PREVMA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249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553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802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84999920"/>
                  </a:ext>
                </a:extLst>
              </a:tr>
              <a:tr h="242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PROLAD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144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481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625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74288475"/>
                  </a:ext>
                </a:extLst>
              </a:tr>
              <a:tr h="242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PROVPO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145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345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490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63285639"/>
                  </a:ext>
                </a:extLst>
              </a:tr>
              <a:tr h="242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PROSAN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159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244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403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116704910"/>
                  </a:ext>
                </a:extLst>
              </a:tr>
              <a:tr h="242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PRECOCEN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283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283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03953968"/>
                  </a:ext>
                </a:extLst>
              </a:tr>
              <a:tr h="242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JENACIBER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24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27</a:t>
                      </a:r>
                      <a:endParaRPr lang="es-CL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95722955"/>
                  </a:ext>
                </a:extLst>
              </a:tr>
              <a:tr h="1409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12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s-C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700</a:t>
                      </a:r>
                      <a:endParaRPr lang="es-CL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1.930</a:t>
                      </a:r>
                      <a:endParaRPr lang="es-CL" sz="12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ES" sz="12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2.630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53544777"/>
                  </a:ext>
                </a:extLst>
              </a:tr>
              <a:tr h="223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CL" sz="9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FUENTE: Brain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2458161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8">
          <a:extLst>
            <a:ext uri="{FF2B5EF4-FFF2-40B4-BE49-F238E27FC236}">
              <a16:creationId xmlns="" xmlns:a16="http://schemas.microsoft.com/office/drawing/2014/main" id="{38228784-D587-7312-DA2D-9F1B7618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">
            <a:extLst>
              <a:ext uri="{FF2B5EF4-FFF2-40B4-BE49-F238E27FC236}">
                <a16:creationId xmlns="" xmlns:a16="http://schemas.microsoft.com/office/drawing/2014/main" id="{CA0D3C7F-A1C2-FB48-122E-A8C109F15AC6}"/>
              </a:ext>
            </a:extLst>
          </p:cNvPr>
          <p:cNvSpPr/>
          <p:nvPr/>
        </p:nvSpPr>
        <p:spPr>
          <a:xfrm rot="5400000">
            <a:off x="-1047751" y="1047114"/>
            <a:ext cx="2216785" cy="12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defRPr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2">
            <a:extLst>
              <a:ext uri="{FF2B5EF4-FFF2-40B4-BE49-F238E27FC236}">
                <a16:creationId xmlns="" xmlns:a16="http://schemas.microsoft.com/office/drawing/2014/main" id="{7585B06F-D020-DA91-CDF3-AC895E323B7E}"/>
              </a:ext>
            </a:extLst>
          </p:cNvPr>
          <p:cNvSpPr/>
          <p:nvPr/>
        </p:nvSpPr>
        <p:spPr>
          <a:xfrm rot="5400000">
            <a:off x="-1047750" y="3263900"/>
            <a:ext cx="2216785" cy="12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defRPr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2">
            <a:extLst>
              <a:ext uri="{FF2B5EF4-FFF2-40B4-BE49-F238E27FC236}">
                <a16:creationId xmlns="" xmlns:a16="http://schemas.microsoft.com/office/drawing/2014/main" id="{DECFD8B6-3DEC-0CA3-64DB-DFCFAB9AAFF2}"/>
              </a:ext>
            </a:extLst>
          </p:cNvPr>
          <p:cNvSpPr/>
          <p:nvPr/>
        </p:nvSpPr>
        <p:spPr>
          <a:xfrm>
            <a:off x="3381178" y="231771"/>
            <a:ext cx="56841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es-CL" sz="1800" b="1" dirty="0">
                <a:solidFill>
                  <a:srgbClr val="002060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DILIGENCIAS RELEVANTES</a:t>
            </a:r>
            <a:endParaRPr sz="1800" b="1" dirty="0">
              <a:solidFill>
                <a:srgbClr val="002060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1B236D6A-F39D-07B0-A42E-3E01FBCE3F3A}"/>
              </a:ext>
            </a:extLst>
          </p:cNvPr>
          <p:cNvSpPr txBox="1"/>
          <p:nvPr/>
        </p:nvSpPr>
        <p:spPr>
          <a:xfrm>
            <a:off x="286802" y="713870"/>
            <a:ext cx="6098582" cy="71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b="1" dirty="0">
                <a:solidFill>
                  <a:srgbClr val="260000"/>
                </a:solidFill>
                <a:latin typeface="+mj-lt"/>
                <a:ea typeface="Arial" panose="020B0604020202020204" pitchFamily="34" charset="0"/>
              </a:rPr>
              <a:t>UNIDAD</a:t>
            </a:r>
            <a:endParaRPr lang="es-CL" b="1" dirty="0">
              <a:solidFill>
                <a:srgbClr val="260000"/>
              </a:solidFill>
              <a:latin typeface="+mj-lt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s-CL" b="1" dirty="0">
                <a:latin typeface="+mj-lt"/>
                <a:ea typeface="Arial" panose="020B0604020202020204" pitchFamily="34" charset="0"/>
              </a:rPr>
              <a:t>Título</a:t>
            </a:r>
            <a:endParaRPr lang="es-CL" b="1" dirty="0">
              <a:latin typeface="+mj-lt"/>
              <a:ea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A1B5102F-5342-473F-B1BE-E3C82ED1C030}"/>
              </a:ext>
            </a:extLst>
          </p:cNvPr>
          <p:cNvSpPr txBox="1"/>
          <p:nvPr/>
        </p:nvSpPr>
        <p:spPr>
          <a:xfrm>
            <a:off x="286803" y="1571852"/>
            <a:ext cx="64474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srgbClr val="26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Fecha: </a:t>
            </a: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srgbClr val="26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7190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="">
      <p:transition spd="slow">
        <p:push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8">
          <a:extLst>
            <a:ext uri="{FF2B5EF4-FFF2-40B4-BE49-F238E27FC236}">
              <a16:creationId xmlns="" xmlns:a16="http://schemas.microsoft.com/office/drawing/2014/main" id="{67B10492-7015-E2C9-EEA3-CC716B299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">
            <a:extLst>
              <a:ext uri="{FF2B5EF4-FFF2-40B4-BE49-F238E27FC236}">
                <a16:creationId xmlns="" xmlns:a16="http://schemas.microsoft.com/office/drawing/2014/main" id="{A2BD25A7-E9B7-2A9C-86D3-CE8DF3ACFA2D}"/>
              </a:ext>
            </a:extLst>
          </p:cNvPr>
          <p:cNvSpPr/>
          <p:nvPr/>
        </p:nvSpPr>
        <p:spPr>
          <a:xfrm rot="5400000">
            <a:off x="-1047751" y="1047114"/>
            <a:ext cx="2216785" cy="121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defRPr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2">
            <a:extLst>
              <a:ext uri="{FF2B5EF4-FFF2-40B4-BE49-F238E27FC236}">
                <a16:creationId xmlns="" xmlns:a16="http://schemas.microsoft.com/office/drawing/2014/main" id="{F9A366F7-E7A4-E945-3024-78FFA4A5EA3F}"/>
              </a:ext>
            </a:extLst>
          </p:cNvPr>
          <p:cNvSpPr/>
          <p:nvPr/>
        </p:nvSpPr>
        <p:spPr>
          <a:xfrm rot="5400000">
            <a:off x="-1047750" y="3263900"/>
            <a:ext cx="2216785" cy="12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defRPr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Google Shape;191;p2">
            <a:extLst>
              <a:ext uri="{FF2B5EF4-FFF2-40B4-BE49-F238E27FC236}">
                <a16:creationId xmlns="" xmlns:a16="http://schemas.microsoft.com/office/drawing/2014/main" id="{3570673D-3E2F-3299-68B6-088118807DE7}"/>
              </a:ext>
            </a:extLst>
          </p:cNvPr>
          <p:cNvSpPr/>
          <p:nvPr/>
        </p:nvSpPr>
        <p:spPr>
          <a:xfrm>
            <a:off x="3071050" y="957200"/>
            <a:ext cx="6438709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endParaRPr lang="es-MX" sz="9600" b="1" dirty="0">
              <a:solidFill>
                <a:srgbClr val="00206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algn="ctr">
              <a:defRPr/>
            </a:pPr>
            <a:r>
              <a:rPr lang="es-MX" sz="9600" b="1" dirty="0">
                <a:solidFill>
                  <a:srgbClr val="002060"/>
                </a:solidFill>
                <a:latin typeface="+mn-lt"/>
                <a:ea typeface="Calibri"/>
                <a:cs typeface="Calibri"/>
                <a:sym typeface="Calibri"/>
              </a:rPr>
              <a:t>P</a:t>
            </a:r>
            <a:r>
              <a:rPr lang="es-CL" sz="9600" b="1" dirty="0">
                <a:solidFill>
                  <a:srgbClr val="002060"/>
                </a:solidFill>
                <a:latin typeface="+mn-lt"/>
                <a:ea typeface="Calibri"/>
                <a:cs typeface="Calibri"/>
                <a:sym typeface="Calibri"/>
              </a:rPr>
              <a:t>DI</a:t>
            </a:r>
          </a:p>
          <a:p>
            <a:pPr algn="ctr">
              <a:defRPr/>
            </a:pPr>
            <a:endParaRPr lang="es-CL" sz="9600" b="1" dirty="0">
              <a:solidFill>
                <a:srgbClr val="002060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67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/>
      </p:transition>
    </mc:Choice>
    <mc:Fallback xmlns="">
      <p:transition spd="slow">
        <p:push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FF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20226</TotalTime>
  <Words>1914</Words>
  <Application>Microsoft Office PowerPoint</Application>
  <PresentationFormat>Panorámica</PresentationFormat>
  <Paragraphs>520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Microsoft YaHei</vt:lpstr>
      <vt:lpstr>Arial</vt:lpstr>
      <vt:lpstr>Calibri</vt:lpstr>
      <vt:lpstr>Calibri Light</vt:lpstr>
      <vt:lpstr>Times New Roman</vt:lpstr>
      <vt:lpstr>Office Theme</vt:lpstr>
      <vt:lpstr>2_Office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Comité Policial</dc:title>
  <dc:creator/>
  <cp:lastModifiedBy/>
  <cp:revision>2672</cp:revision>
  <cp:lastPrinted>2026-08-21T20:25:03Z</cp:lastPrinted>
  <dcterms:created xsi:type="dcterms:W3CDTF">2021-12-30T13:01:00Z</dcterms:created>
  <dcterms:modified xsi:type="dcterms:W3CDTF">2026-09-07T12:33:27Z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2058-12.1.0.26372</vt:lpwstr>
  </property>
  <property fmtid="{D5CDD505-2E9C-101B-9397-08002B2CF9AE}" pid="3" name="ICV">
    <vt:lpwstr>1ED49D859F34470DA8884D999EDCF3B6_13</vt:lpwstr>
  </property>
</Properties>
</file>